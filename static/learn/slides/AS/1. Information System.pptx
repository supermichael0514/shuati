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notesMasterIdLst>
    <p:notesMasterId r:id="rId22"/>
  </p:notesMasterIdLst>
  <p:sldIdLst>
    <p:sldId id="261" r:id="rId2"/>
    <p:sldId id="279" r:id="rId3"/>
    <p:sldId id="277" r:id="rId4"/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861"/>
    <p:restoredTop sz="96281"/>
  </p:normalViewPr>
  <p:slideViewPr>
    <p:cSldViewPr snapToGrid="0">
      <p:cViewPr varScale="1">
        <p:scale>
          <a:sx n="100" d="100"/>
          <a:sy n="100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4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A4C32-446B-9D43-8A5F-FC011E77EBD2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FB843-883D-914A-8809-277BC7F184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293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1093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9342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784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262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206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647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633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971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856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0620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0303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4895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5482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83252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8646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8891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37BB4-3921-B84D-B5C3-0158FDA7B184}" type="datetimeFigureOut">
              <a:rPr kumimoji="1" lang="zh-CN" altLang="en-US" smtClean="0"/>
              <a:t>2026/4/22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0E96E15-1C5A-C546-A2EC-0532D73FA53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66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gI-qXk7XojA&amp;t=24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873E6-B955-946D-6B7C-6A0FDC0531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Information System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AB73C3-A051-BD8A-7DD3-C02B9BC3F2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75226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10949-CA80-8EBD-02BD-80ADF3DC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7CBBB-7993-505B-430D-984E2151F4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Topic 1: Logic Gate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F370D4-7104-0C91-13C4-0CA340E807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520187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43751E-92E3-C887-A039-D54D353E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Learning Object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7B616E-4C5F-9F7C-724C-2C07EE99C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In this course, we will focus on the following concept: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Basic logic gate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concept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Design of logic gate circuit</a:t>
            </a:r>
          </a:p>
        </p:txBody>
      </p:sp>
    </p:spTree>
    <p:extLst>
      <p:ext uri="{BB962C8B-B14F-4D97-AF65-F5344CB8AC3E}">
        <p14:creationId xmlns:p14="http://schemas.microsoft.com/office/powerpoint/2010/main" val="64303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1B5D1-FAF0-79B8-7D11-C5FF4E43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79B3E-7C84-E9E6-C396-4669066D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What is Logic Gate?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4E71F0-5F1F-A025-F894-F53FF1F75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Logic gate is the foundation in computer for everything! </a:t>
            </a:r>
          </a:p>
        </p:txBody>
      </p:sp>
      <p:pic>
        <p:nvPicPr>
          <p:cNvPr id="4" name="图片 3">
            <a:hlinkClick r:id="rId2"/>
            <a:extLst>
              <a:ext uri="{FF2B5EF4-FFF2-40B4-BE49-F238E27FC236}">
                <a16:creationId xmlns:a16="http://schemas.microsoft.com/office/drawing/2014/main" id="{4542FF0E-3108-C118-C51C-407153180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937" y="2734306"/>
            <a:ext cx="6456947" cy="363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3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E2B07-5A4D-3341-D495-ADC9F7DEE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308A8F-9D6E-EF83-37D1-2DE0A53F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Syllabus of Logic Gate</a:t>
            </a:r>
            <a:endParaRPr kumimoji="1" lang="zh-CN" altLang="en-US" dirty="0">
              <a:latin typeface="Bradley Hand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1EAE0A-FA83-065B-E80A-0258E1B5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926" y="1690688"/>
            <a:ext cx="4600074" cy="427251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684E04E-455A-26F3-80B5-79B06A0D2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468" y="1461757"/>
            <a:ext cx="4281943" cy="51367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0897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6DD3A-561D-811E-3400-74266F7E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734AF-585B-1C61-46A0-78B254BE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Points to be Stressed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C0502D-4F49-A42F-BFE0-B5A550BC1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Please try to answer these questions: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What’s the truth table of XOR gate? 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 is ‘problem statement’?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How to conduct a logic expression from a truth table?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/>
              <a:t>Then finish the diagnostic test</a:t>
            </a:r>
          </a:p>
          <a:p>
            <a:pPr>
              <a:lnSpc>
                <a:spcPct val="150000"/>
              </a:lnSpc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5717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1437D-AC54-107D-BF0D-4E3548E10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B1586-8A95-25BE-7F6A-028C4873C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Practical Usage of Logic Gate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1BAF7E-C1C3-A963-192B-50BE6BCC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379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Based on the video, please think of the questions: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Why we use logic gate?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 kind of problem can logic circuit solve?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 will be the truth table of 1 bit adder? And logic circuit?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 about considering the carry bit?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 will be the design of 8-bit adder using logic circuit?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Any other function of circuit you can build?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 </a:t>
            </a:r>
            <a:r>
              <a:rPr kumimoji="1" lang="en-US" altLang="zh-CN" u="sng" dirty="0"/>
              <a:t>online simulator !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2104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41754-8149-50FC-126D-884A851A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97668-F2EE-F1CC-600C-0247238868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Topic 2: Number System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FE96C3-C19B-20C3-C319-4D52F26E22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2348660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71EB-73AA-3806-0D96-8F58D3689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58EE25-E4D5-C478-4349-181F1CED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Learning Object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7FA49-BB1E-44F3-BFEA-EA12BA10E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In this course, we will focus on the following concept: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Number system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Two’s complement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BCD code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ASCII code and Unicode</a:t>
            </a:r>
          </a:p>
        </p:txBody>
      </p:sp>
    </p:spTree>
    <p:extLst>
      <p:ext uri="{BB962C8B-B14F-4D97-AF65-F5344CB8AC3E}">
        <p14:creationId xmlns:p14="http://schemas.microsoft.com/office/powerpoint/2010/main" val="1646818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6985-6C76-7FBB-E639-194E0C07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64924-74A0-833F-3703-2829C9BF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Number System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4E88CB-BDC9-ABCE-730F-A0C51E6DE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331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Binary number is the foundation in computer science: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Binary is used because switches only have ‘on’ and ‘off’ states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Hexadecimal is used because it’s easier for human to read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The key of transformation is to focus on the weight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Special attention for the definition of ‘</a:t>
            </a:r>
            <a:r>
              <a:rPr kumimoji="1" lang="en-US" altLang="zh-CN" u="sng" dirty="0"/>
              <a:t>prefix</a:t>
            </a:r>
            <a:r>
              <a:rPr kumimoji="1" lang="en-US" altLang="zh-CN" dirty="0"/>
              <a:t>’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>
                <a:solidFill>
                  <a:schemeClr val="accent4"/>
                </a:solidFill>
              </a:rPr>
              <a:t>Activity</a:t>
            </a:r>
            <a:r>
              <a:rPr kumimoji="1" lang="en-US" altLang="zh-CN" dirty="0"/>
              <a:t>: explore the definition of positional and un-positional number system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632020-8F76-96C1-CD49-3540EECC9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9" y="5455533"/>
            <a:ext cx="5750395" cy="115007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1A0458F-53A2-596B-307F-C2B8D2A06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60"/>
          <a:stretch/>
        </p:blipFill>
        <p:spPr>
          <a:xfrm>
            <a:off x="6234908" y="5508936"/>
            <a:ext cx="5507913" cy="1099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84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B679-C0AD-E555-B197-2D7434BB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B9700-A4FC-AB1E-37D4-6472AA050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Two’s Complement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543144-4CFA-1AAE-3A36-4ED7782C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8200" cy="466725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We use two’s complement for calculation: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If we 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original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number, there will cause error</a:t>
            </a:r>
          </a:p>
          <a:p>
            <a:pPr>
              <a:lnSpc>
                <a:spcPct val="150000"/>
              </a:lnSpc>
            </a:pPr>
            <a:r>
              <a:rPr kumimoji="1" lang="en-US" altLang="zh-CN" u="sng" dirty="0"/>
              <a:t>Multiple ways </a:t>
            </a:r>
            <a:r>
              <a:rPr kumimoji="1" lang="en-US" altLang="zh-CN" dirty="0"/>
              <a:t>to calculate the two’s complement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The philosophy is to find a number that have the same result with </a:t>
            </a:r>
            <a:r>
              <a:rPr kumimoji="1" lang="en-US" altLang="zh-CN" dirty="0">
                <a:solidFill>
                  <a:srgbClr val="00B0F0"/>
                </a:solidFill>
              </a:rPr>
              <a:t>carry</a:t>
            </a:r>
            <a:r>
              <a:rPr kumimoji="1" lang="en-US" altLang="zh-CN" dirty="0"/>
              <a:t> or </a:t>
            </a:r>
            <a:r>
              <a:rPr kumimoji="1" lang="en-US" altLang="zh-CN" dirty="0">
                <a:solidFill>
                  <a:srgbClr val="00B0F0"/>
                </a:solidFill>
              </a:rPr>
              <a:t>overflow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-128 – 127 is the range of two’s complement 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Explore how to transfer a negative two’s complement to denary number </a:t>
            </a:r>
            <a:r>
              <a:rPr kumimoji="1" lang="en-US" altLang="zh-CN" u="sng" dirty="0"/>
              <a:t>directly</a:t>
            </a:r>
          </a:p>
          <a:p>
            <a:pPr marL="0" indent="0">
              <a:lnSpc>
                <a:spcPct val="150000"/>
              </a:lnSpc>
              <a:buNone/>
            </a:pPr>
            <a:r>
              <a:rPr kumimoji="1" lang="en-US" altLang="zh-CN" dirty="0"/>
              <a:t>Practice for deriving the two’s complement, as well as addition calculation</a:t>
            </a:r>
          </a:p>
        </p:txBody>
      </p:sp>
      <p:pic>
        <p:nvPicPr>
          <p:cNvPr id="1026" name="Picture 2" descr="27,000+ Clock Animation Stock Videos and Royalty-Free Footage - iStock |  Digital clock animation, Alarm clock animation">
            <a:extLst>
              <a:ext uri="{FF2B5EF4-FFF2-40B4-BE49-F238E27FC236}">
                <a16:creationId xmlns:a16="http://schemas.microsoft.com/office/drawing/2014/main" id="{0089190B-51E4-359D-16CB-E0248A7A4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254" y="1295400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8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57DC-D6A2-5C26-56BE-6D8572EB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1B89A-7544-75EF-76BF-5AD73306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BCD Code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392490-357B-4DC9-09F9-44B2C4719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805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BCD stands for Binary Coded Decimal: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Useful in applications that require single denary digits be used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BCD</a:t>
            </a:r>
            <a:r>
              <a:rPr kumimoji="1" lang="en-US" altLang="zh-CN" dirty="0"/>
              <a:t> represents one denary digit in a </a:t>
            </a:r>
            <a:r>
              <a:rPr kumimoji="1" lang="en-US" altLang="zh-CN" dirty="0">
                <a:solidFill>
                  <a:srgbClr val="00B0F0"/>
                </a:solidFill>
              </a:rPr>
              <a:t>nibble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If over than 9, then plus 6 (0110)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CN" dirty="0">
                <a:solidFill>
                  <a:srgbClr val="FFC000"/>
                </a:solidFill>
              </a:rPr>
              <a:t>Challenge</a:t>
            </a:r>
            <a:r>
              <a:rPr kumimoji="1" lang="en-US" altLang="zh-CN" dirty="0"/>
              <a:t>: Use python to create a BCD adder, the input is 2 positive 	number, convert each digit to binary, use BCD rules to add, 	then output denary result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FDF0DC-C1AA-3A8A-480D-4C597CAE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447" y="115616"/>
            <a:ext cx="3608325" cy="21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73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7AFA-8D2B-343D-FC3A-53DF4ED89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E2D775-25E9-B899-F535-08199EA31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ASCII and Unicode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B0BFF2-58DD-ADB2-DAAF-EB6A04BD0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32986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sz="2400" dirty="0"/>
              <a:t>We need a coding scheme to store text in a computer: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/>
              <a:t>ASCII: American Standard Code for Information Interchange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No need to remember each code, but know the rules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Limited characters with 1 byte length (Extended)</a:t>
            </a:r>
          </a:p>
          <a:p>
            <a:pPr>
              <a:lnSpc>
                <a:spcPct val="150000"/>
              </a:lnSpc>
            </a:pPr>
            <a:r>
              <a:rPr kumimoji="1" lang="en-US" altLang="zh-CN" sz="2400" dirty="0"/>
              <a:t>Unicode: Cover more characters with 2 bytes</a:t>
            </a:r>
            <a:endParaRPr kumimoji="1"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29FF1E5-6A84-18C6-1627-A6A6CE776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271" y="1503948"/>
            <a:ext cx="3182729" cy="426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71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83BC2-C5E3-B6D5-00B8-A9BBF015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E7A838-C13B-81CD-2A6A-E2B29F0F0B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Topic 3: Media and Compression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12F8347-1F7F-4266-2B1A-61896600D6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Michael Cao</a:t>
            </a:r>
          </a:p>
        </p:txBody>
      </p:sp>
    </p:spTree>
    <p:extLst>
      <p:ext uri="{BB962C8B-B14F-4D97-AF65-F5344CB8AC3E}">
        <p14:creationId xmlns:p14="http://schemas.microsoft.com/office/powerpoint/2010/main" val="4255177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61F3C-4174-92CE-1C34-55FD3030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55C251-78E1-F29E-1328-38679046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Learning Object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B01202-8005-4291-5A31-FB90C5DEF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In this course, we will focus on the following concept: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Bitmap and vector graphic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Sound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Compression technique</a:t>
            </a:r>
          </a:p>
        </p:txBody>
      </p:sp>
    </p:spTree>
    <p:extLst>
      <p:ext uri="{BB962C8B-B14F-4D97-AF65-F5344CB8AC3E}">
        <p14:creationId xmlns:p14="http://schemas.microsoft.com/office/powerpoint/2010/main" val="1277243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E534C-009B-1E2A-F1AE-8D41E8A2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213471-51F4-F79F-379B-D3D66F0C2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Bitmap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804405-101C-CD6A-6F20-7EEB6CBB4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Bitmap is generally used to store an image: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Pixel</a:t>
            </a:r>
            <a:r>
              <a:rPr kumimoji="1" lang="en-US" altLang="zh-CN" dirty="0"/>
              <a:t>: the smallest component of bitmap. (essential information?)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Color depth</a:t>
            </a:r>
            <a:r>
              <a:rPr kumimoji="1" lang="en-US" altLang="zh-CN" dirty="0"/>
              <a:t>: the number of bits used to represent one pixel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Bit depth</a:t>
            </a:r>
            <a:r>
              <a:rPr kumimoji="1" lang="en-US" altLang="zh-CN" dirty="0"/>
              <a:t>: the number of bits used to represent each channel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Resolution</a:t>
            </a:r>
            <a:r>
              <a:rPr kumimoji="1" lang="en-US" altLang="zh-CN" dirty="0"/>
              <a:t>: image resolution and screen resolution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File Header</a:t>
            </a:r>
            <a:r>
              <a:rPr kumimoji="1" lang="en-US" altLang="zh-CN" dirty="0"/>
              <a:t>: a set of bytes at the beginning identifies the files and contains information about the coding used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ACBF67-D69D-53AB-09B8-16FFA0EE8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3341" y="5597956"/>
            <a:ext cx="2726154" cy="11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70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F95B8-303B-2137-C898-0337084C3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E8926-CB07-2861-C98B-F580E6C8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Vector Graphic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74930-779B-2A02-95E9-DFAE861D1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9979" cy="350436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Vector graphic is usually created by human: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Drawing Object</a:t>
            </a:r>
            <a:r>
              <a:rPr kumimoji="1" lang="en-US" altLang="zh-CN" dirty="0"/>
              <a:t>: a component defined by geometric formulae and associated properties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Drawing List</a:t>
            </a:r>
            <a:r>
              <a:rPr kumimoji="1" lang="en-US" altLang="zh-CN" dirty="0"/>
              <a:t>: the list of shapes involved in an image // a list that stores the command/description required to draw each object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00B0F0"/>
                </a:solidFill>
              </a:rPr>
              <a:t>Property</a:t>
            </a:r>
            <a:r>
              <a:rPr kumimoji="1" lang="en-US" altLang="zh-CN" dirty="0"/>
              <a:t>: Define one aspect of the appearance of the drawing object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52F7B15-979E-D80C-A83B-1D4F88E13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568" y="1583854"/>
            <a:ext cx="2586790" cy="29563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9C32231-A9E4-7C30-01AE-3DDF86DA1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831" y="4866353"/>
            <a:ext cx="5756725" cy="190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85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A990B-C63C-2930-8A0B-616EE136F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2E1D3-2767-CCAD-571A-27AC7A7A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Activity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E47CF7-2195-0F46-E522-541BAE7C0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1032" cy="41901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Please make a comparison between vector graphic and bitmap from: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Where it come from? Easy to create?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What’s the basic component?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What’s the feature?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Occupation of space?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Realistic? Vivid?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The best use situation?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819939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D1B1-24AD-110F-AF77-6F4A848D7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11A09-36D8-5EBE-F694-1AD7E9F7C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Sound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6C000A-3FAF-0754-3FB3-EC8D25F40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1032" cy="41901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Sound is a continuous format of media: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ADC and DAC</a:t>
            </a:r>
            <a:r>
              <a:rPr kumimoji="1" lang="en-US" altLang="zh-CN" dirty="0"/>
              <a:t>: convert between analogue and digital data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Sampling</a:t>
            </a:r>
            <a:r>
              <a:rPr kumimoji="1" lang="en-US" altLang="zh-CN" dirty="0"/>
              <a:t>: taking measurements at regular intervals and storing the values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Sampling resolution</a:t>
            </a:r>
            <a:r>
              <a:rPr kumimoji="1" lang="en-US" altLang="zh-CN" dirty="0"/>
              <a:t>: the number of bits used to store each sample</a:t>
            </a:r>
          </a:p>
          <a:p>
            <a:pPr>
              <a:lnSpc>
                <a:spcPct val="100000"/>
              </a:lnSpc>
            </a:pPr>
            <a:r>
              <a:rPr kumimoji="1" lang="en-US" altLang="zh-CN" b="1" dirty="0">
                <a:solidFill>
                  <a:srgbClr val="00B0F0"/>
                </a:solidFill>
              </a:rPr>
              <a:t>Sampling rate</a:t>
            </a:r>
            <a:r>
              <a:rPr kumimoji="1" lang="en-US" altLang="zh-CN" dirty="0"/>
              <a:t>: the number of samples taken per second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Calculate the file size of images, sound files and videos</a:t>
            </a:r>
          </a:p>
        </p:txBody>
      </p:sp>
    </p:spTree>
    <p:extLst>
      <p:ext uri="{BB962C8B-B14F-4D97-AF65-F5344CB8AC3E}">
        <p14:creationId xmlns:p14="http://schemas.microsoft.com/office/powerpoint/2010/main" val="3849038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8B942-33B8-9C43-1225-641BAE15F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017A2-0B83-BBE4-B7E5-76607375A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Bradley Hand" pitchFamily="2" charset="0"/>
              </a:rPr>
              <a:t>Compression</a:t>
            </a:r>
            <a:endParaRPr kumimoji="1" lang="zh-CN" altLang="en-US" dirty="0">
              <a:latin typeface="Bradley Hand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3F1279-9BB7-8106-8ED7-B7DFB81DC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61032" cy="4190164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Compression is useful to reduce file size: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File Size: Calculated by unit and quantity. (also the logic of compression)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Lossless compression: original file can be restored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Coding map table (use </a:t>
            </a:r>
            <a:r>
              <a:rPr kumimoji="1" lang="en-US" altLang="zh-CN" dirty="0" err="1"/>
              <a:t>code.org</a:t>
            </a:r>
            <a:r>
              <a:rPr kumimoji="1" lang="en-US" altLang="zh-CN" dirty="0"/>
              <a:t> to explore)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Run-length encoding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(</a:t>
            </a:r>
            <a:r>
              <a:rPr kumimoji="1" lang="en-US" altLang="zh-CN" dirty="0">
                <a:solidFill>
                  <a:srgbClr val="FF0000"/>
                </a:solidFill>
              </a:rPr>
              <a:t>consecutive</a:t>
            </a:r>
            <a:r>
              <a:rPr kumimoji="1" lang="en-US" altLang="zh-CN" dirty="0"/>
              <a:t> repeating patterns)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/>
              <a:t>Lossy compression: some data is lost permanently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Perceptual shaping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Crop or reduce resolution of depth</a:t>
            </a:r>
          </a:p>
          <a:p>
            <a:pPr lvl="1">
              <a:lnSpc>
                <a:spcPct val="100000"/>
              </a:lnSpc>
            </a:pPr>
            <a:r>
              <a:rPr kumimoji="1" lang="en-US" altLang="zh-CN" dirty="0"/>
              <a:t>Relative mapping (adjacent frames in video)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b="1" dirty="0">
                <a:solidFill>
                  <a:srgbClr val="FFC000"/>
                </a:solidFill>
              </a:rPr>
              <a:t>Challenge</a:t>
            </a:r>
            <a:r>
              <a:rPr kumimoji="1" lang="en-US" altLang="zh-CN" dirty="0"/>
              <a:t>: Write python code to implement RLE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b="1" dirty="0">
                <a:solidFill>
                  <a:srgbClr val="FFC000"/>
                </a:solidFill>
              </a:rPr>
              <a:t>Presentation</a:t>
            </a:r>
            <a:r>
              <a:rPr kumimoji="1" lang="en-US" altLang="zh-CN" dirty="0"/>
              <a:t>: design / introduce a compression method by your own</a:t>
            </a:r>
          </a:p>
          <a:p>
            <a:pPr marL="0" indent="0">
              <a:lnSpc>
                <a:spcPct val="100000"/>
              </a:lnSpc>
              <a:buNone/>
            </a:pPr>
            <a:r>
              <a:rPr kumimoji="1" lang="en-US" altLang="zh-CN" dirty="0"/>
              <a:t>	Hint: Introduction can include from thesis or existed compression format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9249BA-B09F-B0F6-EB5D-01E07A9A3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932" y="2988426"/>
            <a:ext cx="34163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3800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12817</TotalTime>
  <Words>844</Words>
  <Application>Microsoft Macintosh PowerPoint</Application>
  <PresentationFormat>宽屏</PresentationFormat>
  <Paragraphs>108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Arial</vt:lpstr>
      <vt:lpstr>Bradley Hand</vt:lpstr>
      <vt:lpstr>Trebuchet MS</vt:lpstr>
      <vt:lpstr>Wingdings 3</vt:lpstr>
      <vt:lpstr>平面</vt:lpstr>
      <vt:lpstr>Information System</vt:lpstr>
      <vt:lpstr>Topic 1: Logic Gate</vt:lpstr>
      <vt:lpstr>Learning Object</vt:lpstr>
      <vt:lpstr>What is Logic Gate?</vt:lpstr>
      <vt:lpstr>Syllabus of Logic Gate</vt:lpstr>
      <vt:lpstr>Points to be Stressed</vt:lpstr>
      <vt:lpstr>Practical Usage of Logic Gate</vt:lpstr>
      <vt:lpstr>Topic 2: Number System</vt:lpstr>
      <vt:lpstr>Learning Object</vt:lpstr>
      <vt:lpstr>Number System</vt:lpstr>
      <vt:lpstr>Two’s Complement</vt:lpstr>
      <vt:lpstr>BCD Code</vt:lpstr>
      <vt:lpstr>ASCII and Unicode</vt:lpstr>
      <vt:lpstr>Topic 3: Media and Compression</vt:lpstr>
      <vt:lpstr>Learning Object</vt:lpstr>
      <vt:lpstr>Bitmap</vt:lpstr>
      <vt:lpstr>Vector Graphic</vt:lpstr>
      <vt:lpstr>Activity</vt:lpstr>
      <vt:lpstr>Sound</vt:lpstr>
      <vt:lpstr>Compression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曹维雨 Michael Cao</dc:creator>
  <cp:lastModifiedBy>曹维雨 Michael Cao</cp:lastModifiedBy>
  <cp:revision>312</cp:revision>
  <dcterms:created xsi:type="dcterms:W3CDTF">2023-08-19T12:58:47Z</dcterms:created>
  <dcterms:modified xsi:type="dcterms:W3CDTF">2026-04-22T09:35:11Z</dcterms:modified>
</cp:coreProperties>
</file>