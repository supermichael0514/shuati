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sldIdLst>
    <p:sldId id="261" r:id="rId2"/>
    <p:sldId id="374" r:id="rId3"/>
    <p:sldId id="373" r:id="rId4"/>
    <p:sldId id="375" r:id="rId5"/>
    <p:sldId id="378" r:id="rId6"/>
    <p:sldId id="379" r:id="rId7"/>
    <p:sldId id="380" r:id="rId8"/>
    <p:sldId id="376" r:id="rId9"/>
    <p:sldId id="381" r:id="rId10"/>
    <p:sldId id="382" r:id="rId11"/>
    <p:sldId id="383" r:id="rId12"/>
    <p:sldId id="384" r:id="rId13"/>
    <p:sldId id="387" r:id="rId14"/>
    <p:sldId id="38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247"/>
    <p:restoredTop sz="96281"/>
  </p:normalViewPr>
  <p:slideViewPr>
    <p:cSldViewPr snapToGrid="0">
      <p:cViewPr varScale="1">
        <p:scale>
          <a:sx n="104" d="100"/>
          <a:sy n="104" d="100"/>
        </p:scale>
        <p:origin x="2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868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4039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261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074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6870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790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465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824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159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538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39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5744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0882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6790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5279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224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51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873E6-B955-946D-6B7C-6A0FDC053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Data Representation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AB73C3-A051-BD8A-7DD3-C02B9BC3F2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Michael Cao</a:t>
            </a:r>
          </a:p>
        </p:txBody>
      </p:sp>
    </p:spTree>
    <p:extLst>
      <p:ext uri="{BB962C8B-B14F-4D97-AF65-F5344CB8AC3E}">
        <p14:creationId xmlns:p14="http://schemas.microsoft.com/office/powerpoint/2010/main" val="75226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DDF4-E1C6-68ED-2A19-EDED446A6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510A3-2385-C619-5990-174A29444A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Topic 1: User-defined </a:t>
            </a:r>
            <a:br>
              <a:rPr kumimoji="1" lang="en-US" altLang="zh-CN" dirty="0">
                <a:latin typeface="Bradley Hand" pitchFamily="2" charset="0"/>
              </a:rPr>
            </a:br>
            <a:r>
              <a:rPr kumimoji="1" lang="en-US" altLang="zh-CN" dirty="0">
                <a:latin typeface="Bradley Hand" pitchFamily="2" charset="0"/>
              </a:rPr>
              <a:t>Data Types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612DA2-85FE-0458-5467-2330C719CB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Michael Cao</a:t>
            </a:r>
          </a:p>
        </p:txBody>
      </p:sp>
    </p:spTree>
    <p:extLst>
      <p:ext uri="{BB962C8B-B14F-4D97-AF65-F5344CB8AC3E}">
        <p14:creationId xmlns:p14="http://schemas.microsoft.com/office/powerpoint/2010/main" val="238490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A1C8-FDB6-F328-DDDA-C279B70DD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1ECA3-1EA8-E72E-2E14-84D2FE91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Learning Objective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0B7FD5-0256-744A-4032-F7F3B5886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In this lesson, you will learn: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User-defined data types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0A71AB-4545-8C51-67A5-FCE888CAF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29000"/>
            <a:ext cx="7772400" cy="258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00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7576-7985-96B9-F2A5-4CC44F5F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EA0CB-B3CB-FFAF-81D2-CE499008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Enumerated Data Type 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4D6DD-BCA0-373E-34F8-765007487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Non-composite data type can be defined without referencing another data type: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Enumerated data type</a:t>
            </a:r>
            <a:r>
              <a:rPr kumimoji="1" lang="en-US" altLang="zh-CN" dirty="0"/>
              <a:t>: defined by a given list of all possible values that has an </a:t>
            </a:r>
            <a:r>
              <a:rPr kumimoji="1" lang="en-US" altLang="zh-CN" dirty="0">
                <a:solidFill>
                  <a:srgbClr val="FF0000"/>
                </a:solidFill>
              </a:rPr>
              <a:t>implied order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It looks like a string but without quotation. It is just a type of user-defined type</a:t>
            </a:r>
          </a:p>
          <a:p>
            <a:pPr>
              <a:lnSpc>
                <a:spcPct val="100000"/>
              </a:lnSpc>
            </a:pPr>
            <a:endParaRPr kumimoji="1"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kumimoji="1"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5B6FE8-FCAC-1C56-6CF8-62B7745D3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65" y="4883591"/>
            <a:ext cx="6000419" cy="4025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A1F3F3-E937-C755-F1D0-D0FF99EF8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65" y="5422900"/>
            <a:ext cx="5202428" cy="7432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0765017-1414-9E0B-770E-AF1A4F02E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439" y="4960356"/>
            <a:ext cx="3215328" cy="120574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5258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C2198-B9FE-0216-8947-464FE3DF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C54B6-5657-1EEA-1256-9411ED36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Pointer Data Type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545A7B-B984-1A8E-480E-E3F16B01E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074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Pointer is another non-composite user-defined data type: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Used to reference a memory location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Use ^ to reference as well as dereference</a:t>
            </a:r>
          </a:p>
          <a:p>
            <a:pPr>
              <a:lnSpc>
                <a:spcPct val="100000"/>
              </a:lnSpc>
            </a:pPr>
            <a:endParaRPr kumimoji="1" lang="en-US" altLang="zh-CN" dirty="0"/>
          </a:p>
          <a:p>
            <a:pPr marL="0" indent="0">
              <a:lnSpc>
                <a:spcPct val="100000"/>
              </a:lnSpc>
              <a:buNone/>
            </a:pPr>
            <a:endParaRPr kumimoji="1"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AA95D6-D452-B1FB-2F2C-964B6CDE3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10896"/>
            <a:ext cx="4834929" cy="3903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EAB738A-2588-890B-3889-C6D4B5CBD8FD}"/>
              </a:ext>
            </a:extLst>
          </p:cNvPr>
          <p:cNvSpPr txBox="1"/>
          <p:nvPr/>
        </p:nvSpPr>
        <p:spPr>
          <a:xfrm>
            <a:off x="838200" y="4498848"/>
            <a:ext cx="10515600" cy="267765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kumimoji="1"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TIntPt</a:t>
            </a:r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= ^INTEGER</a:t>
            </a:r>
          </a:p>
          <a:p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DECLARE </a:t>
            </a:r>
            <a:r>
              <a:rPr kumimoji="1"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MyIntPt</a:t>
            </a:r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: </a:t>
            </a:r>
            <a:r>
              <a:rPr kumimoji="1"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TIntPt</a:t>
            </a:r>
            <a:endParaRPr kumimoji="1" lang="en-US" altLang="zh-CN" sz="2400" dirty="0">
              <a:latin typeface="Courier New" panose="020703090202050204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DECLARE Num1, Num2: INTEGER</a:t>
            </a:r>
          </a:p>
          <a:p>
            <a:endParaRPr kumimoji="1" lang="en-US" altLang="zh-CN" sz="2400" dirty="0">
              <a:latin typeface="Courier New" panose="020703090202050204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endParaRPr kumimoji="1" lang="en-US" altLang="zh-CN" sz="2400" dirty="0">
              <a:latin typeface="Courier New" panose="020703090202050204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endParaRPr kumimoji="1" lang="en-US" altLang="zh-CN" sz="2400" dirty="0">
              <a:latin typeface="Courier New" panose="020703090202050204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endParaRPr kumimoji="1" lang="en-US" altLang="zh-CN" sz="2400" dirty="0">
              <a:latin typeface="Courier New" panose="020703090202050204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Num1  100</a:t>
            </a:r>
          </a:p>
          <a:p>
            <a:r>
              <a:rPr kumimoji="1"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MyIntPt</a:t>
            </a:r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 ^Num1</a:t>
            </a:r>
          </a:p>
          <a:p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Num2  </a:t>
            </a:r>
            <a:r>
              <a:rPr kumimoji="1"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MyIntPt</a:t>
            </a:r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^ * 2</a:t>
            </a:r>
          </a:p>
          <a:p>
            <a:endParaRPr kumimoji="1" lang="en-US" altLang="zh-CN" sz="2400" dirty="0">
              <a:latin typeface="Courier New" panose="020703090202050204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endParaRPr kumimoji="1" lang="en-US" altLang="zh-CN" sz="2400" dirty="0">
              <a:latin typeface="Courier New" panose="02070309020205020404" pitchFamily="49" charset="0"/>
              <a:cs typeface="Courier New" panose="02070309020205020404" pitchFamily="49" charset="0"/>
              <a:sym typeface="Wingdings" pitchFamily="2" charset="2"/>
            </a:endParaRPr>
          </a:p>
          <a:p>
            <a:r>
              <a:rPr kumimoji="1"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1" lang="zh-CN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18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2C990-17AA-63D2-370A-EB538B86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19E41-8EA4-6704-23F4-2C1D1BA60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Composite Data Type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C82083-CCA8-C41B-DB94-658527E9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9968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A composite data type refers to other data type in its definition: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Record</a:t>
            </a:r>
            <a:r>
              <a:rPr kumimoji="1" lang="en-US" altLang="zh-CN" dirty="0"/>
              <a:t>: introduced in AS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Class</a:t>
            </a:r>
            <a:r>
              <a:rPr kumimoji="1" lang="en-US" altLang="zh-CN" dirty="0"/>
              <a:t>: include variables of given data types and methods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Set</a:t>
            </a:r>
            <a:r>
              <a:rPr kumimoji="1" lang="en-US" altLang="zh-CN" dirty="0"/>
              <a:t>: a given list of unordered elements that can use set of theory operations</a:t>
            </a:r>
            <a:endParaRPr kumimoji="1"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8626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5CE64-13A7-775A-9333-BF67BFE9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931BEF-E4B7-C0F9-E017-E35AB8E0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Set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AAEE75-910E-5ED8-F752-79A3E7F4C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9968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A set is a given list of </a:t>
            </a:r>
            <a:r>
              <a:rPr kumimoji="1" lang="en-US" altLang="zh-CN" dirty="0">
                <a:solidFill>
                  <a:srgbClr val="FF0000"/>
                </a:solidFill>
              </a:rPr>
              <a:t>unordered</a:t>
            </a:r>
            <a:r>
              <a:rPr kumimoji="1" lang="en-US" altLang="zh-CN" dirty="0"/>
              <a:t> elements that can use set of theory operations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Duplicated values are not allowed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No organization of the data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Operations include: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Check existence, add new values, remove existing values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Add and subtract between sets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Intersection, union and complement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89A27B-8627-E833-1926-A66CA0D44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163" y="4812924"/>
            <a:ext cx="2398012" cy="13488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968E52B-B95F-BE8C-0B8A-FF24F8654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433" y="2572512"/>
            <a:ext cx="4920368" cy="153092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6092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6122-5516-9B91-EC90-C276F970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3096F-B0AE-3AFA-E0AD-CEB0BE80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Activities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7D0B21-8FC9-67DC-94FD-F80ECCB39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Please follow the steps to enhance the understanding of different data types: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Read more codes on textbook and pseudocode guide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Do exercise on handouts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Implement them on python (enumerate, set)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FFC000"/>
                </a:solidFill>
              </a:rPr>
              <a:t>Explore</a:t>
            </a:r>
            <a:r>
              <a:rPr kumimoji="1" lang="en-US" altLang="zh-CN" dirty="0"/>
              <a:t>: Other composite or user-defined data type?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FFC000"/>
                </a:solidFill>
              </a:rPr>
              <a:t>Discuss</a:t>
            </a:r>
            <a:r>
              <a:rPr kumimoji="1" lang="en-US" altLang="zh-CN" dirty="0"/>
              <a:t>: The need for different type of data type above?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Finish the homework</a:t>
            </a:r>
          </a:p>
        </p:txBody>
      </p:sp>
    </p:spTree>
    <p:extLst>
      <p:ext uri="{BB962C8B-B14F-4D97-AF65-F5344CB8AC3E}">
        <p14:creationId xmlns:p14="http://schemas.microsoft.com/office/powerpoint/2010/main" val="3927547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3EBC2-7616-D56C-BD2D-EF90546F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1AC70-7931-4C44-74BE-AE8228653D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Topic 2: Floating-Point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A6BFFC-71EC-D671-24FD-3702DCAE03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Michael Cao</a:t>
            </a:r>
          </a:p>
        </p:txBody>
      </p:sp>
    </p:spTree>
    <p:extLst>
      <p:ext uri="{BB962C8B-B14F-4D97-AF65-F5344CB8AC3E}">
        <p14:creationId xmlns:p14="http://schemas.microsoft.com/office/powerpoint/2010/main" val="263125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6D0D4-2B8D-54BF-F4C0-3FB0BDAF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A6253-ADBB-0C6A-B86A-97619AF8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Learning Objective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1971C-93AB-CB99-D27A-5BF708568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In this lesson, you will learn: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The representation and manipulation of float-point numbers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6948CA-1C99-BA62-5924-402E18C7E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759" y="3076172"/>
            <a:ext cx="6298482" cy="310079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8411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56A03-7D81-9DB5-C277-235DBDF2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04104-8C92-E79D-1444-8311D9F9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Floating-Point Number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3972A1-9077-CE9F-1A32-5E70F83FD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9968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We use two’s complement to represent signed numbers, but this limit the range of numbers and cannot indicate fractional values.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Instead, we use scientific notation in binary number system</a:t>
            </a:r>
          </a:p>
          <a:p>
            <a:pPr marL="0" indent="0">
              <a:lnSpc>
                <a:spcPct val="100000"/>
              </a:lnSpc>
              <a:buNone/>
            </a:pPr>
            <a:endParaRPr kumimoji="1"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where M is </a:t>
            </a:r>
            <a:r>
              <a:rPr kumimoji="1" lang="en-US" altLang="zh-CN" dirty="0">
                <a:solidFill>
                  <a:srgbClr val="00B0F0"/>
                </a:solidFill>
              </a:rPr>
              <a:t>Mantissa</a:t>
            </a:r>
            <a:r>
              <a:rPr kumimoji="1" lang="en-US" altLang="zh-CN" dirty="0"/>
              <a:t> and E is the </a:t>
            </a:r>
            <a:r>
              <a:rPr kumimoji="1" lang="en-US" altLang="zh-CN" dirty="0">
                <a:solidFill>
                  <a:srgbClr val="00B0F0"/>
                </a:solidFill>
              </a:rPr>
              <a:t>Exponent</a:t>
            </a:r>
          </a:p>
          <a:p>
            <a:pPr marL="0" indent="0">
              <a:lnSpc>
                <a:spcPct val="100000"/>
              </a:lnSpc>
              <a:buNone/>
            </a:pPr>
            <a:endParaRPr kumimoji="1" lang="en-US" altLang="zh-CN" dirty="0">
              <a:solidFill>
                <a:srgbClr val="00B0F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kumimoji="1"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b="1" dirty="0">
                <a:solidFill>
                  <a:srgbClr val="FFC000"/>
                </a:solidFill>
              </a:rPr>
              <a:t>Guess</a:t>
            </a:r>
            <a:r>
              <a:rPr kumimoji="1" lang="en-US" altLang="zh-CN" dirty="0"/>
              <a:t>: Why we call a data type in programming language ‘float’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C9E0F2-0F1C-60A5-5A3B-78162631D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084" y="3289808"/>
            <a:ext cx="1433831" cy="5410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A90AE40-F5E6-B074-5FC8-ADA26984A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189" y="4315968"/>
            <a:ext cx="6827622" cy="76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01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8F53B-7167-4FCE-5FD7-C85EB9178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4EC3E-94F9-6E70-2838-A861E0F4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Binary to Denary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801953-C7FE-9643-2FD7-6C14472D7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35496" cy="40996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dirty="0"/>
              <a:t>The binary numbers are all in two’s complement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There are generally 2 methods for converting, choose the proper one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Use the right as an example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Practice from easy to difficult from example 13.1 to 13.4 on Hodder textbook </a:t>
            </a:r>
          </a:p>
          <a:p>
            <a:pPr marL="0" indent="0">
              <a:lnSpc>
                <a:spcPct val="100000"/>
              </a:lnSpc>
              <a:buNone/>
            </a:pP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ADDAA3-D8BA-2D4A-471E-A6C46D955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728" y="1058194"/>
            <a:ext cx="4356608" cy="505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63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6A4BB-BC33-0960-9FA8-2E6C26636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5F64C-A28F-AC08-5C0D-C059E8D8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Denary to Binary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3A720-24EF-DB00-EC38-37144B1E0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2056" cy="40996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dirty="0"/>
              <a:t>There are still 2 methods for converting, choose the proper one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For </a:t>
            </a:r>
            <a:r>
              <a:rPr kumimoji="1" lang="en-US" altLang="zh-CN" dirty="0">
                <a:solidFill>
                  <a:srgbClr val="FF0000"/>
                </a:solidFill>
              </a:rPr>
              <a:t>normalization</a:t>
            </a:r>
            <a:r>
              <a:rPr kumimoji="1" lang="en-US" altLang="zh-CN" dirty="0"/>
              <a:t>, start with 0.1 if positive and 1.0 with negative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Practice from example 13.5 to 13.7 (use 13.5 as an example)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Use approximate value if cannot make it so accurate (take 5.88 as example)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3CEA5A-8C9C-D885-ED7B-36056122E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660" y="1825624"/>
            <a:ext cx="4793596" cy="356323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82800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6DEB2-267F-1424-C91B-99FA13438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1DED6-37CB-6093-3AE0-9867E9A4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Potential Problems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AB738-72ED-E20B-BA61-94F7469CC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9968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During the calculation process, please summarize the potential problems before we give the conclusion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Rounding error</a:t>
            </a:r>
            <a:r>
              <a:rPr kumimoji="1" lang="en-US" altLang="zh-CN" dirty="0"/>
              <a:t>: cannot convert the denary number into an exactly binary equivalent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Precision vs. Range</a:t>
            </a:r>
            <a:r>
              <a:rPr kumimoji="1" lang="en-US" altLang="zh-CN" dirty="0"/>
              <a:t>: trade-off in limited bit length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Overflow and Underflow</a:t>
            </a:r>
            <a:r>
              <a:rPr kumimoji="1" lang="en-US" altLang="zh-CN" dirty="0"/>
              <a:t>: result is too big or small the represent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Zero</a:t>
            </a:r>
            <a:r>
              <a:rPr kumimoji="1" lang="en-US" altLang="zh-CN" dirty="0"/>
              <a:t> cannot be represented</a:t>
            </a:r>
          </a:p>
        </p:txBody>
      </p:sp>
    </p:spTree>
    <p:extLst>
      <p:ext uri="{BB962C8B-B14F-4D97-AF65-F5344CB8AC3E}">
        <p14:creationId xmlns:p14="http://schemas.microsoft.com/office/powerpoint/2010/main" val="363564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6656</TotalTime>
  <Words>518</Words>
  <Application>Microsoft Macintosh PowerPoint</Application>
  <PresentationFormat>宽屏</PresentationFormat>
  <Paragraphs>79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Arial</vt:lpstr>
      <vt:lpstr>Bradley Hand</vt:lpstr>
      <vt:lpstr>Courier New</vt:lpstr>
      <vt:lpstr>Trebuchet MS</vt:lpstr>
      <vt:lpstr>Wingdings 3</vt:lpstr>
      <vt:lpstr>平面</vt:lpstr>
      <vt:lpstr>Data Representation</vt:lpstr>
      <vt:lpstr>Topic 1: User-defined  Data Types</vt:lpstr>
      <vt:lpstr>Learning Objective</vt:lpstr>
      <vt:lpstr>Enumerated Data Type </vt:lpstr>
      <vt:lpstr>Pointer Data Type</vt:lpstr>
      <vt:lpstr>Composite Data Type</vt:lpstr>
      <vt:lpstr>Set</vt:lpstr>
      <vt:lpstr>Activities</vt:lpstr>
      <vt:lpstr>Topic 2: Floating-Point</vt:lpstr>
      <vt:lpstr>Learning Objective</vt:lpstr>
      <vt:lpstr>Floating-Point Number</vt:lpstr>
      <vt:lpstr>Binary to Denary</vt:lpstr>
      <vt:lpstr>Denary to Binary</vt:lpstr>
      <vt:lpstr>Potential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曹维雨 Michael Cao</dc:creator>
  <cp:lastModifiedBy>曹维雨 Michael Cao</cp:lastModifiedBy>
  <cp:revision>220</cp:revision>
  <dcterms:created xsi:type="dcterms:W3CDTF">2023-08-19T12:58:47Z</dcterms:created>
  <dcterms:modified xsi:type="dcterms:W3CDTF">2026-04-22T09:36:58Z</dcterms:modified>
</cp:coreProperties>
</file>