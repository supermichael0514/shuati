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sldIdLst>
    <p:sldId id="261" r:id="rId2"/>
    <p:sldId id="281" r:id="rId3"/>
    <p:sldId id="277" r:id="rId4"/>
    <p:sldId id="285" r:id="rId5"/>
    <p:sldId id="286" r:id="rId6"/>
    <p:sldId id="289" r:id="rId7"/>
    <p:sldId id="288" r:id="rId8"/>
    <p:sldId id="291" r:id="rId9"/>
    <p:sldId id="294" r:id="rId10"/>
    <p:sldId id="29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59"/>
    <p:restoredTop sz="96281"/>
  </p:normalViewPr>
  <p:slideViewPr>
    <p:cSldViewPr snapToGrid="0">
      <p:cViewPr varScale="1">
        <p:scale>
          <a:sx n="98" d="100"/>
          <a:sy n="98" d="100"/>
        </p:scale>
        <p:origin x="20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95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787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908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42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31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381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547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995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043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6090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9169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6165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2039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7988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605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465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873E6-B955-946D-6B7C-6A0FDC053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Data Representation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AB73C3-A051-BD8A-7DD3-C02B9BC3F2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75226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1F340-89E2-08E0-51EF-5869F2A5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AB91C-842D-4CB3-3630-5E9448DC3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Topic 1: Number System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8C88E2-9162-288B-C126-0060A160D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1246956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3751E-92E3-C887-A039-D54D353E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Learning Objective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7B616E-4C5F-9F7C-724C-2C07EE99C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141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In this lesson, you will learn: </a:t>
            </a:r>
          </a:p>
          <a:p>
            <a:pPr>
              <a:lnSpc>
                <a:spcPct val="200000"/>
              </a:lnSpc>
            </a:pPr>
            <a:r>
              <a:rPr kumimoji="1" lang="en-US" altLang="zh-CN" dirty="0"/>
              <a:t>Number system of binary and hexadecimal</a:t>
            </a:r>
          </a:p>
        </p:txBody>
      </p:sp>
    </p:spTree>
    <p:extLst>
      <p:ext uri="{BB962C8B-B14F-4D97-AF65-F5344CB8AC3E}">
        <p14:creationId xmlns:p14="http://schemas.microsoft.com/office/powerpoint/2010/main" val="64303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6985-6C76-7FBB-E639-194E0C07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64924-74A0-833F-3703-2829C9BF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Number System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E88CB-BDC9-ABCE-730F-A0C51E6DE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331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Binary number is the foundation in computer science: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Binary is used because switches only have ‘on’ and ‘off’ states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Hexadecimal is used because it’s easier for human to read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The key for </a:t>
            </a:r>
            <a:r>
              <a:rPr kumimoji="1" lang="en-US" altLang="zh-CN" i="1" u="sng" dirty="0"/>
              <a:t>transformation</a:t>
            </a:r>
            <a:r>
              <a:rPr kumimoji="1" lang="en-US" altLang="zh-CN" dirty="0"/>
              <a:t> is to focus on the weight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Special attention for the definition of ‘</a:t>
            </a:r>
            <a:r>
              <a:rPr kumimoji="1" lang="en-US" altLang="zh-CN" u="sng" dirty="0"/>
              <a:t>prefix</a:t>
            </a:r>
            <a:r>
              <a:rPr kumimoji="1" lang="en-US" altLang="zh-CN" dirty="0"/>
              <a:t>’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>
                <a:solidFill>
                  <a:schemeClr val="accent4"/>
                </a:solidFill>
              </a:rPr>
              <a:t>Activity</a:t>
            </a:r>
            <a:r>
              <a:rPr kumimoji="1" lang="en-US" altLang="zh-CN" dirty="0"/>
              <a:t>: explore the using scenario of hexadecimal number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632020-8F76-96C1-CD49-3540EECC9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9" y="5455533"/>
            <a:ext cx="5750395" cy="11500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A0458F-53A2-596B-307F-C2B8D2A06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60"/>
          <a:stretch/>
        </p:blipFill>
        <p:spPr>
          <a:xfrm>
            <a:off x="6234908" y="5508936"/>
            <a:ext cx="5507913" cy="109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8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B679-C0AD-E555-B197-2D7434BB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B9700-A4FC-AB1E-37D4-6472AA05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Calculation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543144-4CFA-1AAE-3A36-4ED7782C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82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We use </a:t>
            </a:r>
            <a:r>
              <a:rPr kumimoji="1" lang="en-US" altLang="zh-CN" dirty="0">
                <a:solidFill>
                  <a:srgbClr val="00B0F0"/>
                </a:solidFill>
              </a:rPr>
              <a:t>two’s complement </a:t>
            </a:r>
            <a:r>
              <a:rPr kumimoji="1" lang="en-US" altLang="zh-CN" dirty="0"/>
              <a:t>for addition: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If we use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B0F0"/>
                </a:solidFill>
              </a:rPr>
              <a:t>original</a:t>
            </a:r>
            <a:r>
              <a:rPr kumimoji="1" lang="zh-CN" altLang="en-US" dirty="0">
                <a:solidFill>
                  <a:srgbClr val="00B0F0"/>
                </a:solidFill>
              </a:rPr>
              <a:t> </a:t>
            </a:r>
            <a:r>
              <a:rPr kumimoji="1" lang="en-US" altLang="zh-CN" dirty="0">
                <a:solidFill>
                  <a:srgbClr val="00B0F0"/>
                </a:solidFill>
              </a:rPr>
              <a:t>number</a:t>
            </a:r>
            <a:r>
              <a:rPr kumimoji="1" lang="en-US" altLang="zh-CN" dirty="0"/>
              <a:t>, there will cause error</a:t>
            </a:r>
          </a:p>
          <a:p>
            <a:pPr>
              <a:lnSpc>
                <a:spcPct val="150000"/>
              </a:lnSpc>
            </a:pPr>
            <a:r>
              <a:rPr kumimoji="1" lang="en-US" altLang="zh-CN" u="sng" dirty="0"/>
              <a:t>Multiple ways </a:t>
            </a:r>
            <a:r>
              <a:rPr kumimoji="1" lang="en-US" altLang="zh-CN" dirty="0"/>
              <a:t>to calculate the two’s complement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The philosophy is to find a number that have the same result with </a:t>
            </a:r>
            <a:r>
              <a:rPr kumimoji="1" lang="en-US" altLang="zh-CN" dirty="0">
                <a:solidFill>
                  <a:srgbClr val="00B0F0"/>
                </a:solidFill>
              </a:rPr>
              <a:t>overflow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-128 – 127 is the range of two’s complement 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Explore how to transfer a negative two’s complement to denary number </a:t>
            </a:r>
            <a:r>
              <a:rPr kumimoji="1" lang="en-US" altLang="zh-CN" u="sng" dirty="0"/>
              <a:t>directly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/>
              <a:t>Practice for deriving the two’s complement, as well as addition calculation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/>
              <a:t>We use </a:t>
            </a:r>
            <a:r>
              <a:rPr kumimoji="1" lang="en-US" altLang="zh-CN" dirty="0">
                <a:solidFill>
                  <a:srgbClr val="00B0F0"/>
                </a:solidFill>
              </a:rPr>
              <a:t>logical shift </a:t>
            </a:r>
            <a:r>
              <a:rPr kumimoji="1" lang="en-US" altLang="zh-CN" dirty="0"/>
              <a:t>as a way of multiple and division</a:t>
            </a:r>
          </a:p>
        </p:txBody>
      </p:sp>
      <p:pic>
        <p:nvPicPr>
          <p:cNvPr id="1026" name="Picture 2" descr="27,000+ Clock Animation Stock Videos and Royalty-Free Footage - iStock |  Digital clock animation, Alarm clock animation">
            <a:extLst>
              <a:ext uri="{FF2B5EF4-FFF2-40B4-BE49-F238E27FC236}">
                <a16:creationId xmlns:a16="http://schemas.microsoft.com/office/drawing/2014/main" id="{0089190B-51E4-359D-16CB-E0248A7A4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254" y="1295400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8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3BC2-C5E3-B6D5-00B8-A9BBF015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E7A838-C13B-81CD-2A6A-E2B29F0F0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Topic 2: Media and Compression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2F8347-1F7F-4266-2B1A-61896600D6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425517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7AFA-8D2B-343D-FC3A-53DF4ED8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2D775-25E9-B899-F535-08199EA3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ASCII and Unicode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B0BFF2-58DD-ADB2-DAAF-EB6A04BD0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32986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400" dirty="0"/>
              <a:t>We need a coding scheme to store text in a computer: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/>
              <a:t>ASCII: American Standard Code for Information Interchange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No need to remember each code, but know the rules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Limited characters with 1 byte length (Extended)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/>
              <a:t>Unicode: Cover more characters with 2 bytes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9FF1E5-6A84-18C6-1627-A6A6CE77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271" y="1503948"/>
            <a:ext cx="3182729" cy="426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7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E534C-009B-1E2A-F1AE-8D41E8A2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13471-51F4-F79F-379B-D3D66F0C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Bitmap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04405-101C-CD6A-6F20-7EEB6CBB4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Bitmap is generally used to store an image: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Pixel</a:t>
            </a:r>
            <a:r>
              <a:rPr kumimoji="1" lang="en-US" altLang="zh-CN" dirty="0"/>
              <a:t>: the smallest component of bitmap. (essential information?)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Color depth</a:t>
            </a:r>
            <a:r>
              <a:rPr kumimoji="1" lang="en-US" altLang="zh-CN" dirty="0"/>
              <a:t>: the number of bits used to represent one pixel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Resolution</a:t>
            </a:r>
            <a:r>
              <a:rPr kumimoji="1" lang="en-US" altLang="zh-CN" dirty="0"/>
              <a:t>: image resolution and screen resolution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File Header</a:t>
            </a:r>
            <a:r>
              <a:rPr kumimoji="1" lang="en-US" altLang="zh-CN" dirty="0"/>
              <a:t>: a set of bytes at the beginning identifies the files and contains information about the coding used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ACBF67-D69D-53AB-09B8-16FFA0EE8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341" y="5597956"/>
            <a:ext cx="2726154" cy="11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0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D1B1-24AD-110F-AF77-6F4A848D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11A09-36D8-5EBE-F694-1AD7E9F7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Sound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6C000A-3FAF-0754-3FB3-EC8D25F40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1032" cy="41901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Sound is a continuous format of media: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ADC and DAC</a:t>
            </a:r>
            <a:r>
              <a:rPr kumimoji="1" lang="en-US" altLang="zh-CN" dirty="0"/>
              <a:t>: convert between analogue and digital data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Sampling</a:t>
            </a:r>
            <a:r>
              <a:rPr kumimoji="1" lang="en-US" altLang="zh-CN" dirty="0"/>
              <a:t>: taking measurements at regular intervals and storing the values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Sampling resolution</a:t>
            </a:r>
            <a:r>
              <a:rPr kumimoji="1" lang="en-US" altLang="zh-CN" dirty="0"/>
              <a:t>: the number of bits used to store each sample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Sampling rate</a:t>
            </a:r>
            <a:r>
              <a:rPr kumimoji="1" lang="en-US" altLang="zh-CN" dirty="0"/>
              <a:t>: the number of samples taken per second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Calculate the file size of images, sound files and videos</a:t>
            </a:r>
          </a:p>
        </p:txBody>
      </p:sp>
    </p:spTree>
    <p:extLst>
      <p:ext uri="{BB962C8B-B14F-4D97-AF65-F5344CB8AC3E}">
        <p14:creationId xmlns:p14="http://schemas.microsoft.com/office/powerpoint/2010/main" val="3849038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B942-33B8-9C43-1225-641BAE15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017A2-0B83-BBE4-B7E5-76607375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Compression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F1279-9BB7-8106-8ED7-B7DFB81DC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1032" cy="419016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Compression is useful to reduce file size: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File Size: Calculated by unit and quantity. (also the logic of compression)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Lossless compression: original file can be restored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Coding map table (use </a:t>
            </a:r>
            <a:r>
              <a:rPr kumimoji="1" lang="en-US" altLang="zh-CN" dirty="0" err="1"/>
              <a:t>code.org</a:t>
            </a:r>
            <a:r>
              <a:rPr kumimoji="1" lang="en-US" altLang="zh-CN" dirty="0"/>
              <a:t> to explore)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Run-length encoding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>
                <a:solidFill>
                  <a:srgbClr val="FF0000"/>
                </a:solidFill>
              </a:rPr>
              <a:t>consecutive</a:t>
            </a:r>
            <a:r>
              <a:rPr kumimoji="1" lang="en-US" altLang="zh-CN" dirty="0"/>
              <a:t> repeating patterns)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Lossy compression: some data is lost permanently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Perceptual shaping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Crop or reduce resolution of depth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Relative mapping (adjacent frames in video)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b="1" dirty="0">
                <a:solidFill>
                  <a:srgbClr val="FFC000"/>
                </a:solidFill>
              </a:rPr>
              <a:t>Presentation</a:t>
            </a:r>
            <a:r>
              <a:rPr kumimoji="1" lang="en-US" altLang="zh-CN" dirty="0"/>
              <a:t>: design / introduce a compression method by your own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	Hint: Introduction can include from thesis or existed compression format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9249BA-B09F-B0F6-EB5D-01E07A9A3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932" y="2988426"/>
            <a:ext cx="34163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3800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3341</TotalTime>
  <Words>456</Words>
  <Application>Microsoft Macintosh PowerPoint</Application>
  <PresentationFormat>宽屏</PresentationFormat>
  <Paragraphs>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Bradley Hand</vt:lpstr>
      <vt:lpstr>Trebuchet MS</vt:lpstr>
      <vt:lpstr>Wingdings 3</vt:lpstr>
      <vt:lpstr>平面</vt:lpstr>
      <vt:lpstr>Data Representation</vt:lpstr>
      <vt:lpstr>Topic 1: Number System</vt:lpstr>
      <vt:lpstr>Learning Objective</vt:lpstr>
      <vt:lpstr>Number System</vt:lpstr>
      <vt:lpstr>Calculation</vt:lpstr>
      <vt:lpstr>Topic 2: Media and Compression</vt:lpstr>
      <vt:lpstr>ASCII and Unicode</vt:lpstr>
      <vt:lpstr>Bitmap</vt:lpstr>
      <vt:lpstr>Sound</vt:lpstr>
      <vt:lpstr>Compression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曹维雨 Michael Cao</dc:creator>
  <cp:lastModifiedBy>曹维雨 Michael Cao</cp:lastModifiedBy>
  <cp:revision>185</cp:revision>
  <dcterms:created xsi:type="dcterms:W3CDTF">2023-08-19T12:58:47Z</dcterms:created>
  <dcterms:modified xsi:type="dcterms:W3CDTF">2026-04-22T09:38:39Z</dcterms:modified>
</cp:coreProperties>
</file>